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03504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EDBCB"/>
                </a:solidFill>
                <a:latin typeface="Noto Sans CJK KR"/>
              </a:rPr>
              <a:t>PRODUCT / SERVICE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47548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ClaimGate 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55648"/>
            <a:ext cx="484632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 CJK KR"/>
              </a:rPr>
              <a:t>AI가 쓴 문장을
근거와 책임이 있는 주장으로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81528"/>
            <a:ext cx="43891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2E5D9"/>
                </a:solidFill>
                <a:latin typeface="Noto Sans CJK KR"/>
              </a:rPr>
              <a:t>공식 데이터의 근거 위치 · 결정론적 위험 규칙 · 사람의 최종 판단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40480"/>
            <a:ext cx="1664208" cy="310896"/>
          </a:xfrm>
          <a:prstGeom prst="roundRect">
            <a:avLst/>
          </a:prstGeom>
          <a:solidFill>
            <a:srgbClr val="246148"/>
          </a:solidFill>
          <a:ln w="12700">
            <a:solidFill>
              <a:srgbClr val="246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9624"/>
            <a:ext cx="16642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NO ANCHOR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0592" y="3840480"/>
            <a:ext cx="1481328" cy="310896"/>
          </a:xfrm>
          <a:prstGeom prst="roundRect">
            <a:avLst/>
          </a:prstGeom>
          <a:solidFill>
            <a:srgbClr val="E59E35"/>
          </a:solidFill>
          <a:ln w="12700">
            <a:solidFill>
              <a:srgbClr val="E59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3849624"/>
            <a:ext cx="14813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8342A"/>
                </a:solidFill>
                <a:latin typeface="Noto Sans CJK KR"/>
              </a:rPr>
              <a:t>NO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90288"/>
            <a:ext cx="448056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KR"/>
              </a:rPr>
              <a:t>2026 외교 공공데이터·AI 활용 경진대회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0056"/>
            <a:ext cx="4114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CAE1D4"/>
                </a:solidFill>
                <a:latin typeface="Noto Sans CJK KR"/>
              </a:rPr>
              <a:t>제품·서비스 개발 부문</a:t>
            </a:r>
          </a:p>
        </p:txBody>
      </p:sp>
      <p:pic>
        <p:nvPicPr>
          <p:cNvPr id="12" name="Picture 11" descr="01-guided-demo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566928"/>
            <a:ext cx="6080760" cy="5376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2120" y="6108192"/>
            <a:ext cx="59893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C5DCCF"/>
                </a:solidFill>
                <a:latin typeface="Noto Sans CJK KR"/>
              </a:rPr>
              <a:t>실제 오프라인 고정 예시 데이터 기반 시제품 화면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342A"/>
                </a:solidFill>
                <a:latin typeface="Noto Sans CJK KR"/>
              </a:rPr>
              <a:t>빠른 초안과 책임 있는 설명 사이의 빈틈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98448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F65"/>
                </a:solidFill>
                <a:latin typeface="Noto Sans CJK KR"/>
              </a:rPr>
              <a:t>문장이 자연스럽다는 사실만으로 공식 데이터와의 일치를 보장할 수 없습니다.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3891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11018520" cy="960120"/>
          </a:xfrm>
          <a:prstGeom prst="roundRect">
            <a:avLst/>
          </a:prstGeom>
          <a:solidFill>
            <a:srgbClr val="0F4D36"/>
          </a:solidFill>
          <a:ln w="12700">
            <a:solidFill>
              <a:srgbClr val="0F4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66543"/>
            <a:ext cx="104241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“공공기관 설명의 작은 오류도 정책 판단과 대외 신뢰의 위험으로 이어집니다.”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163824"/>
            <a:ext cx="3493008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3383280"/>
            <a:ext cx="530352" cy="310896"/>
          </a:xfrm>
          <a:prstGeom prst="roundRect">
            <a:avLst/>
          </a:prstGeom>
          <a:solidFill>
            <a:srgbClr val="CD524A"/>
          </a:solidFill>
          <a:ln w="12700">
            <a:solidFill>
              <a:srgbClr val="CD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392424"/>
            <a:ext cx="5303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58768"/>
            <a:ext cx="2971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342A"/>
                </a:solidFill>
                <a:latin typeface="Noto Sans CJK KR"/>
              </a:rPr>
              <a:t>최신성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70832"/>
            <a:ext cx="2999232" cy="841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B6F65"/>
                </a:solidFill>
                <a:latin typeface="Noto Sans CJK KR"/>
              </a:rPr>
              <a:t>국가 안전정보가 최신 외교부 데이터와 일치하는가?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163824"/>
            <a:ext cx="3493008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7136" y="3383280"/>
            <a:ext cx="530352" cy="310896"/>
          </a:xfrm>
          <a:prstGeom prst="roundRect">
            <a:avLst/>
          </a:prstGeom>
          <a:solidFill>
            <a:srgbClr val="E59E35"/>
          </a:solidFill>
          <a:ln w="12700">
            <a:solidFill>
              <a:srgbClr val="E59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3392424"/>
            <a:ext cx="5303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858768"/>
            <a:ext cx="2971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342A"/>
                </a:solidFill>
                <a:latin typeface="Noto Sans CJK KR"/>
              </a:rPr>
              <a:t>정합성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4370832"/>
            <a:ext cx="2999232" cy="841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B6F65"/>
                </a:solidFill>
                <a:latin typeface="Noto Sans CJK KR"/>
              </a:rPr>
              <a:t>사업 대상국·기관·기간·성과가 공개 사업정보와 맞는가?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3163824"/>
            <a:ext cx="3493008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7888" y="3383280"/>
            <a:ext cx="530352" cy="310896"/>
          </a:xfrm>
          <a:prstGeom prst="roundRect">
            <a:avLst/>
          </a:prstGeom>
          <a:solidFill>
            <a:srgbClr val="14734F"/>
          </a:solidFill>
          <a:ln w="12700">
            <a:solidFill>
              <a:srgbClr val="147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3392424"/>
            <a:ext cx="5303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3858768"/>
            <a:ext cx="2971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342A"/>
                </a:solidFill>
                <a:latin typeface="Noto Sans CJK KR"/>
              </a:rPr>
              <a:t>책임성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4370832"/>
            <a:ext cx="2999232" cy="841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B6F65"/>
                </a:solidFill>
                <a:latin typeface="Noto Sans CJK KR"/>
              </a:rPr>
              <a:t>누가 어떤 근거를 확인하고 무엇을 정정했는가?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65392"/>
            <a:ext cx="749807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7F9489"/>
                </a:solidFill>
                <a:latin typeface="Noto Sans CJK KR"/>
              </a:rPr>
              <a:t>CLAIMGATE ODA · 2026 외교 공공데이터·AI 활용 경진대회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02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342A"/>
                </a:solidFill>
                <a:latin typeface="Noto Sans CJK KR"/>
              </a:rPr>
              <a:t>생성 이후의 책임 있는 검토를 제품화합니다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98448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F65"/>
                </a:solidFill>
                <a:latin typeface="Noto Sans CJK KR"/>
              </a:rPr>
              <a:t>AI는 후보를 빠르게 구성하고, 근거·규칙·사람이 최종 상태를 결정합니다.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3891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12848"/>
            <a:ext cx="1901952" cy="2304288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441448"/>
            <a:ext cx="566928" cy="566928"/>
          </a:xfrm>
          <a:prstGeom prst="ellipse">
            <a:avLst/>
          </a:prstGeom>
          <a:solidFill>
            <a:srgbClr val="495A73"/>
          </a:solidFill>
          <a:ln>
            <a:solidFill>
              <a:srgbClr val="49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72968"/>
            <a:ext cx="17190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342A"/>
                </a:solidFill>
                <a:latin typeface="Noto Sans CJK KR"/>
              </a:rPr>
              <a:t>AI 후보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657600"/>
            <a:ext cx="1609344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0">
                <a:solidFill>
                  <a:srgbClr val="5B6F65"/>
                </a:solidFill>
                <a:latin typeface="Noto Sans CJK KR"/>
              </a:rPr>
              <a:t>주장·근거 후보
제안 전용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127248"/>
            <a:ext cx="356616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4D36"/>
                </a:solidFill>
                <a:latin typeface="Noto Sans CJK KR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2212848"/>
            <a:ext cx="1901952" cy="2304288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65576" y="2441448"/>
            <a:ext cx="566928" cy="566928"/>
          </a:xfrm>
          <a:prstGeom prst="ellipse">
            <a:avLst/>
          </a:prstGeom>
          <a:solidFill>
            <a:srgbClr val="14734F"/>
          </a:solidFill>
          <a:ln>
            <a:solidFill>
              <a:srgbClr val="147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3172968"/>
            <a:ext cx="17190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342A"/>
                </a:solidFill>
                <a:latin typeface="Noto Sans CJK KR"/>
              </a:rPr>
              <a:t>Source Anchor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3657600"/>
            <a:ext cx="1609344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0">
                <a:solidFill>
                  <a:srgbClr val="5B6F65"/>
                </a:solidFill>
                <a:latin typeface="Noto Sans CJK KR"/>
              </a:rPr>
              <a:t>행·필드·문장
근거 위치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127248"/>
            <a:ext cx="356616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4D36"/>
                </a:solidFill>
                <a:latin typeface="Noto Sans CJK K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2212848"/>
            <a:ext cx="1901952" cy="2304288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15583" y="2441448"/>
            <a:ext cx="566928" cy="566928"/>
          </a:xfrm>
          <a:prstGeom prst="ellipse">
            <a:avLst/>
          </a:prstGeom>
          <a:solidFill>
            <a:srgbClr val="E59E35"/>
          </a:solidFill>
          <a:ln>
            <a:solidFill>
              <a:srgbClr val="E59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5" y="3172968"/>
            <a:ext cx="17190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342A"/>
                </a:solidFill>
                <a:latin typeface="Noto Sans CJK KR"/>
              </a:rPr>
              <a:t>Rule 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657600"/>
            <a:ext cx="1609344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0">
                <a:solidFill>
                  <a:srgbClr val="5B6F65"/>
                </a:solidFill>
                <a:latin typeface="Noto Sans CJK KR"/>
              </a:rPr>
              <a:t>값·기관·날짜
불일치 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3127248"/>
            <a:ext cx="356616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4D36"/>
                </a:solidFill>
                <a:latin typeface="Noto Sans CJK K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7223" y="2212848"/>
            <a:ext cx="1901952" cy="2304288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65592" y="2441448"/>
            <a:ext cx="566928" cy="566928"/>
          </a:xfrm>
          <a:prstGeom prst="ellipse">
            <a:avLst/>
          </a:prstGeom>
          <a:solidFill>
            <a:srgbClr val="CD524A"/>
          </a:solidFill>
          <a:ln>
            <a:solidFill>
              <a:srgbClr val="CD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3" y="3172968"/>
            <a:ext cx="17190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342A"/>
                </a:solidFill>
                <a:latin typeface="Noto Sans CJK KR"/>
              </a:rPr>
              <a:t>Human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3657600"/>
            <a:ext cx="1609344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0">
                <a:solidFill>
                  <a:srgbClr val="5B6F65"/>
                </a:solidFill>
                <a:latin typeface="Noto Sans CJK KR"/>
              </a:rPr>
              <a:t>검증·정정·기각
최종 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1" y="3127248"/>
            <a:ext cx="356616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4D36"/>
                </a:solidFill>
                <a:latin typeface="Noto Sans CJK K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57232" y="2212848"/>
            <a:ext cx="1901952" cy="2304288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15600" y="2441448"/>
            <a:ext cx="566928" cy="566928"/>
          </a:xfrm>
          <a:prstGeom prst="ellipse">
            <a:avLst/>
          </a:prstGeom>
          <a:solidFill>
            <a:srgbClr val="0F4D36"/>
          </a:solidFill>
          <a:ln>
            <a:solidFill>
              <a:srgbClr val="0F4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3172968"/>
            <a:ext cx="17190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342A"/>
                </a:solidFill>
                <a:latin typeface="Noto Sans CJK KR"/>
              </a:rPr>
              <a:t>Evidence Pack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3657600"/>
            <a:ext cx="1609344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0">
                <a:solidFill>
                  <a:srgbClr val="5B6F65"/>
                </a:solidFill>
                <a:latin typeface="Noto Sans CJK KR"/>
              </a:rPr>
              <a:t>검토된 주장만
후속 사용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983480"/>
            <a:ext cx="11018520" cy="960120"/>
          </a:xfrm>
          <a:prstGeom prst="roundRect">
            <a:avLst/>
          </a:prstGeom>
          <a:solidFill>
            <a:srgbClr val="E5F2EA"/>
          </a:solidFill>
          <a:ln w="12700">
            <a:solidFill>
              <a:srgbClr val="E5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193792"/>
            <a:ext cx="105156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4D36"/>
                </a:solidFill>
                <a:latin typeface="Noto Sans CJK KR"/>
              </a:rPr>
              <a:t>검토자 판정 전에는 보고서·그래프·근거 묶음 투영이 차단됩니다.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65392"/>
            <a:ext cx="749807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7F9489"/>
                </a:solidFill>
                <a:latin typeface="Noto Sans CJK KR"/>
              </a:rPr>
              <a:t>CLAIMGATE ODA · 2026 외교 공공데이터·AI 활용 경진대회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DE1D6"/>
                </a:solidFill>
                <a:latin typeface="Noto Sans CJK KR"/>
              </a:rPr>
              <a:t>03 · 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세 가지 위험 수준을 한 화면에서 검토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98448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DE1D6"/>
                </a:solidFill>
                <a:latin typeface="Noto Sans CJK KR"/>
              </a:rPr>
              <a:t>실제 MOFA ODA DomainPack 오프라인 시제품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3891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DE1D6"/>
                </a:solidFill>
                <a:latin typeface="Noto Sans CJK KR"/>
              </a:rPr>
              <a:t>04</a:t>
            </a:r>
          </a:p>
        </p:txBody>
      </p:sp>
      <p:pic>
        <p:nvPicPr>
          <p:cNvPr id="6" name="Picture 5" descr="02-review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8339327" cy="45537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25712" y="1828800"/>
            <a:ext cx="2468880" cy="1133856"/>
          </a:xfrm>
          <a:prstGeom prst="roundRect">
            <a:avLst/>
          </a:prstGeom>
          <a:solidFill>
            <a:srgbClr val="FAEAE8"/>
          </a:solidFill>
          <a:ln w="12700">
            <a:solidFill>
              <a:srgbClr val="FA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08592" y="1975104"/>
            <a:ext cx="804672" cy="310896"/>
          </a:xfrm>
          <a:prstGeom prst="roundRect">
            <a:avLst/>
          </a:prstGeom>
          <a:solidFill>
            <a:srgbClr val="CD524A"/>
          </a:solidFill>
          <a:ln w="12700">
            <a:solidFill>
              <a:srgbClr val="CD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08592" y="1984248"/>
            <a:ext cx="8046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Noto Sans CJK KR"/>
              </a:rPr>
              <a:t>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8592" y="2331720"/>
            <a:ext cx="19385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8342A"/>
                </a:solidFill>
                <a:latin typeface="Noto Sans CJK KR"/>
              </a:rPr>
              <a:t>안전정보 충돌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8592" y="2596896"/>
            <a:ext cx="199339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5B6F65"/>
                </a:solidFill>
                <a:latin typeface="Noto Sans CJK KR"/>
              </a:rPr>
              <a:t>외교부 국가별 안전정보와 AI 안전 주장 불일치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25712" y="3200400"/>
            <a:ext cx="2468880" cy="1133856"/>
          </a:xfrm>
          <a:prstGeom prst="roundRect">
            <a:avLst/>
          </a:prstGeom>
          <a:solidFill>
            <a:srgbClr val="FCF3E0"/>
          </a:solidFill>
          <a:ln w="12700">
            <a:solidFill>
              <a:srgbClr val="FC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08592" y="3346704"/>
            <a:ext cx="804672" cy="310896"/>
          </a:xfrm>
          <a:prstGeom prst="roundRect">
            <a:avLst/>
          </a:prstGeom>
          <a:solidFill>
            <a:srgbClr val="E59E35"/>
          </a:solidFill>
          <a:ln w="12700">
            <a:solidFill>
              <a:srgbClr val="E59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3355848"/>
            <a:ext cx="8046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Noto Sans CJK KR"/>
              </a:rPr>
              <a:t>YELLOW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3703320"/>
            <a:ext cx="19385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8342A"/>
                </a:solidFill>
                <a:latin typeface="Noto Sans CJK KR"/>
              </a:rPr>
              <a:t>사업정보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3968496"/>
            <a:ext cx="199339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5B6F65"/>
                </a:solidFill>
                <a:latin typeface="Noto Sans CJK KR"/>
              </a:rPr>
              <a:t>KOICA 대상국·기간·기관 추가 검토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5712" y="4572000"/>
            <a:ext cx="2468880" cy="1133856"/>
          </a:xfrm>
          <a:prstGeom prst="roundRect">
            <a:avLst/>
          </a:prstGeom>
          <a:solidFill>
            <a:srgbClr val="E5F2EA"/>
          </a:solidFill>
          <a:ln w="12700">
            <a:solidFill>
              <a:srgbClr val="E5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08592" y="4718304"/>
            <a:ext cx="804672" cy="310896"/>
          </a:xfrm>
          <a:prstGeom prst="roundRect">
            <a:avLst/>
          </a:prstGeom>
          <a:solidFill>
            <a:srgbClr val="14734F"/>
          </a:solidFill>
          <a:ln w="12700">
            <a:solidFill>
              <a:srgbClr val="147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4727448"/>
            <a:ext cx="8046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Noto Sans CJK KR"/>
              </a:rPr>
              <a:t>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5074920"/>
            <a:ext cx="19385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8342A"/>
                </a:solidFill>
                <a:latin typeface="Noto Sans CJK KR"/>
              </a:rPr>
              <a:t>정의 일치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5340096"/>
            <a:ext cx="199339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5B6F65"/>
                </a:solidFill>
                <a:latin typeface="Noto Sans CJK KR"/>
              </a:rPr>
              <a:t>ODA 용어 정의 일치 + sampling 후보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65392"/>
            <a:ext cx="749807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BCD3C6"/>
                </a:solidFill>
                <a:latin typeface="Noto Sans CJK KR"/>
              </a:rPr>
              <a:t>CLAIMGATE ODA · 2026 외교 공공데이터·AI 활용 경진대회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04 · PUBLIC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342A"/>
                </a:solidFill>
                <a:latin typeface="Noto Sans CJK KR"/>
              </a:rPr>
              <a:t>공공데이터를 조회 화면이 아니라 주장 검토 기준점으로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98448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F65"/>
                </a:solidFill>
                <a:latin typeface="Noto Sans CJK KR"/>
              </a:rPr>
              <a:t>현재 구현과 향후 연동을 명확히 분리합니다.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3891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47088"/>
            <a:ext cx="5074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4D36"/>
                </a:solidFill>
                <a:latin typeface="Noto Sans CJK KR"/>
              </a:rPr>
              <a:t>CURRENT · OFFLINE FIXTURE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86000"/>
            <a:ext cx="5257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859536" cy="310896"/>
          </a:xfrm>
          <a:prstGeom prst="roundRect">
            <a:avLst/>
          </a:prstGeom>
          <a:solidFill>
            <a:srgbClr val="0F4D36"/>
          </a:solidFill>
          <a:ln w="12700">
            <a:solidFill>
              <a:srgbClr val="0F4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78024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KR"/>
              </a:rPr>
              <a:t>DATA-001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423160"/>
            <a:ext cx="3611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8342A"/>
                </a:solidFill>
                <a:latin typeface="Noto Sans CJK KR"/>
              </a:rPr>
              <a:t>외교부_국가별 안전정보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752344"/>
            <a:ext cx="36118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F65"/>
                </a:solidFill>
                <a:latin typeface="Noto Sans CJK KR"/>
              </a:rPr>
              <a:t>국가·지역·공지 시점·위험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310128"/>
            <a:ext cx="5257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493008"/>
            <a:ext cx="859536" cy="310896"/>
          </a:xfrm>
          <a:prstGeom prst="roundRect">
            <a:avLst/>
          </a:prstGeom>
          <a:solidFill>
            <a:srgbClr val="0F4D36"/>
          </a:solidFill>
          <a:ln w="12700">
            <a:solidFill>
              <a:srgbClr val="0F4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02152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KR"/>
              </a:rPr>
              <a:t>DATA-002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3447288"/>
            <a:ext cx="3611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8342A"/>
                </a:solidFill>
                <a:latin typeface="Noto Sans CJK KR"/>
              </a:rPr>
              <a:t>KOICA 국가별 협력사업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3776472"/>
            <a:ext cx="36118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F65"/>
                </a:solidFill>
                <a:latin typeface="Noto Sans CJK KR"/>
              </a:rPr>
              <a:t>대상국·사업명·기간·기관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334256"/>
            <a:ext cx="5257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517136"/>
            <a:ext cx="859536" cy="310896"/>
          </a:xfrm>
          <a:prstGeom prst="roundRect">
            <a:avLst/>
          </a:prstGeom>
          <a:solidFill>
            <a:srgbClr val="0F4D36"/>
          </a:solidFill>
          <a:ln w="12700">
            <a:solidFill>
              <a:srgbClr val="0F4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KR"/>
              </a:rPr>
              <a:t>DATA-003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471416"/>
            <a:ext cx="3611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8342A"/>
                </a:solidFill>
                <a:latin typeface="Noto Sans CJK KR"/>
              </a:rPr>
              <a:t>KOICA ODA 용어사전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4800600"/>
            <a:ext cx="36118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F65"/>
                </a:solidFill>
                <a:latin typeface="Noto Sans CJK KR"/>
              </a:rPr>
              <a:t>공식 용어와 정의 일치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1847088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59E35"/>
                </a:solidFill>
                <a:latin typeface="Noto Sans CJK KR"/>
              </a:rPr>
              <a:t>NEXT · READ-ONLY ADAPTER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2286000"/>
            <a:ext cx="532180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55664" y="2514600"/>
            <a:ext cx="676656" cy="310896"/>
          </a:xfrm>
          <a:prstGeom prst="roundRect">
            <a:avLst/>
          </a:prstGeom>
          <a:solidFill>
            <a:srgbClr val="E59E35"/>
          </a:solidFill>
          <a:ln w="12700">
            <a:solidFill>
              <a:srgbClr val="E59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2523744"/>
            <a:ext cx="6766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KF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450592"/>
            <a:ext cx="374903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342A"/>
                </a:solidFill>
                <a:latin typeface="Noto Sans CJK KR"/>
              </a:rPr>
              <a:t>공공외교 사업 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834640"/>
            <a:ext cx="3822191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F65"/>
                </a:solidFill>
                <a:latin typeface="Noto Sans CJK KR"/>
              </a:rPr>
              <a:t>사업명·기관·기간·성과 설명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3529584"/>
            <a:ext cx="532180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55664" y="3758184"/>
            <a:ext cx="676656" cy="310896"/>
          </a:xfrm>
          <a:prstGeom prst="roundRect">
            <a:avLst/>
          </a:prstGeom>
          <a:solidFill>
            <a:srgbClr val="E59E35"/>
          </a:solidFill>
          <a:ln w="12700">
            <a:solidFill>
              <a:srgbClr val="E59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3767328"/>
            <a:ext cx="6766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KAF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694176"/>
            <a:ext cx="374903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342A"/>
                </a:solidFill>
                <a:latin typeface="Noto Sans CJK KR"/>
              </a:rPr>
              <a:t>아프리카 공개데이터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078224"/>
            <a:ext cx="3822191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F65"/>
                </a:solidFill>
                <a:latin typeface="Noto Sans CJK KR"/>
              </a:rPr>
              <a:t>국가·기관·스타트업·교류협력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4965192"/>
            <a:ext cx="5321808" cy="914400"/>
          </a:xfrm>
          <a:prstGeom prst="roundRect">
            <a:avLst/>
          </a:prstGeom>
          <a:solidFill>
            <a:srgbClr val="FCF3E0"/>
          </a:solidFill>
          <a:ln w="12700">
            <a:solidFill>
              <a:srgbClr val="FC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5157216"/>
            <a:ext cx="4818888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10" b="1">
                <a:solidFill>
                  <a:srgbClr val="18342A"/>
                </a:solidFill>
                <a:latin typeface="Noto Sans CJK KR"/>
              </a:rPr>
              <a:t>현재 URL은 provenance입니다.
실시간 OpenAPI 연동·운영 정확도를 주장하지 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65392"/>
            <a:ext cx="749807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7F9489"/>
                </a:solidFill>
                <a:latin typeface="Noto Sans CJK KR"/>
              </a:rPr>
              <a:t>CLAIMGATE ODA · 2026 외교 공공데이터·AI 활용 경진대회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05 ·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342A"/>
                </a:solidFill>
                <a:latin typeface="Noto Sans CJK KR"/>
              </a:rPr>
              <a:t>자동 진실판정이 아니라 책임 있는 검토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98448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F65"/>
                </a:solidFill>
                <a:latin typeface="Noto Sans CJK KR"/>
              </a:rPr>
              <a:t>다섯 개의 제품 원칙이 AI 권한과 사람의 책임을 분리합니다.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3891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3584448" cy="1591056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847088"/>
            <a:ext cx="91440" cy="1591056"/>
          </a:xfrm>
          <a:prstGeom prst="rect">
            <a:avLst/>
          </a:prstGeom>
          <a:solidFill>
            <a:srgbClr val="485B74"/>
          </a:solidFill>
          <a:ln>
            <a:solidFill>
              <a:srgbClr val="48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3072384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10" b="1">
                <a:solidFill>
                  <a:srgbClr val="18342A"/>
                </a:solidFill>
                <a:latin typeface="Noto Sans CJK KR"/>
              </a:rPr>
              <a:t>AI Curator, Not Judge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15184"/>
            <a:ext cx="307238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F65"/>
                </a:solidFill>
                <a:latin typeface="Noto Sans CJK KR"/>
              </a:rPr>
              <a:t>AI는 후보 주장과 근거 후보만 제안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47088"/>
            <a:ext cx="3584448" cy="1591056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47088"/>
            <a:ext cx="91440" cy="1591056"/>
          </a:xfrm>
          <a:prstGeom prst="rect">
            <a:avLst/>
          </a:prstGeom>
          <a:solidFill>
            <a:srgbClr val="0F4D36"/>
          </a:solidFill>
          <a:ln>
            <a:solidFill>
              <a:srgbClr val="0F4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03120"/>
            <a:ext cx="3072384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10" b="1">
                <a:solidFill>
                  <a:srgbClr val="18342A"/>
                </a:solidFill>
                <a:latin typeface="Noto Sans CJK KR"/>
              </a:rPr>
              <a:t>No Anchor, No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615184"/>
            <a:ext cx="307238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F65"/>
                </a:solidFill>
                <a:latin typeface="Noto Sans CJK KR"/>
              </a:rPr>
              <a:t>근거 위치 없는 주장은 완료 상태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847088"/>
            <a:ext cx="3584448" cy="1591056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847088"/>
            <a:ext cx="91440" cy="1591056"/>
          </a:xfrm>
          <a:prstGeom prst="rect">
            <a:avLst/>
          </a:prstGeom>
          <a:solidFill>
            <a:srgbClr val="E59E35"/>
          </a:solidFill>
          <a:ln>
            <a:solidFill>
              <a:srgbClr val="E59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103120"/>
            <a:ext cx="3072384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10" b="1">
                <a:solidFill>
                  <a:srgbClr val="18342A"/>
                </a:solidFill>
                <a:latin typeface="Noto Sans CJK KR"/>
              </a:rPr>
              <a:t>Deterministic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615184"/>
            <a:ext cx="307238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F65"/>
                </a:solidFill>
                <a:latin typeface="Noto Sans CJK KR"/>
              </a:rPr>
              <a:t>명시적 규칙과 rule trace로 위험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50592" y="3785615"/>
            <a:ext cx="3584448" cy="1591056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50592" y="3785615"/>
            <a:ext cx="91440" cy="1591056"/>
          </a:xfrm>
          <a:prstGeom prst="rect">
            <a:avLst/>
          </a:prstGeom>
          <a:solidFill>
            <a:srgbClr val="14734F"/>
          </a:solidFill>
          <a:ln>
            <a:solidFill>
              <a:srgbClr val="147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041648"/>
            <a:ext cx="3072384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10" b="1">
                <a:solidFill>
                  <a:srgbClr val="18342A"/>
                </a:solidFill>
                <a:latin typeface="Noto Sans CJK KR"/>
              </a:rPr>
              <a:t>Green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53712"/>
            <a:ext cx="307238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F65"/>
                </a:solidFill>
                <a:latin typeface="Noto Sans CJK KR"/>
              </a:rPr>
              <a:t>낮은 위험의 조용한 오류도 표본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785615"/>
            <a:ext cx="3584448" cy="1591056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785615"/>
            <a:ext cx="91440" cy="1591056"/>
          </a:xfrm>
          <a:prstGeom prst="rect">
            <a:avLst/>
          </a:prstGeom>
          <a:solidFill>
            <a:srgbClr val="CD524A"/>
          </a:solidFill>
          <a:ln>
            <a:solidFill>
              <a:srgbClr val="CD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041648"/>
            <a:ext cx="3072384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10" b="1">
                <a:solidFill>
                  <a:srgbClr val="18342A"/>
                </a:solidFill>
                <a:latin typeface="Noto Sans CJK KR"/>
              </a:rPr>
              <a:t>Evidence Pack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553712"/>
            <a:ext cx="307238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F65"/>
                </a:solidFill>
                <a:latin typeface="Noto Sans CJK KR"/>
              </a:rPr>
              <a:t>검증·정정된 주장만 재사용 산출물로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65392"/>
            <a:ext cx="749807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7F9489"/>
                </a:solidFill>
                <a:latin typeface="Noto Sans CJK KR"/>
              </a:rPr>
              <a:t>CLAIMGATE ODA · 2026 외교 공공데이터·AI 활용 경진대회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06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342A"/>
                </a:solidFill>
                <a:latin typeface="Noto Sans CJK KR"/>
              </a:rPr>
              <a:t>도메인은 교체하고, 신뢰 불변식은 고정합니다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98448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F65"/>
                </a:solidFill>
                <a:latin typeface="Noto Sans CJK KR"/>
              </a:rPr>
              <a:t>AI·UI·DomainPack이 core의 권한 경계를 넘지 못하도록 분리했습니다.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3891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6565392" cy="932688"/>
          </a:xfrm>
          <a:prstGeom prst="roundRect">
            <a:avLst/>
          </a:prstGeom>
          <a:solidFill>
            <a:srgbClr val="E1EDE6"/>
          </a:solidFill>
          <a:ln w="12700"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75104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4D36"/>
                </a:solidFill>
                <a:latin typeface="Noto Sans CJK KR"/>
              </a:rPr>
              <a:t>Controlled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93392"/>
            <a:ext cx="3703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18342A"/>
                </a:solidFill>
                <a:latin typeface="Noto Sans CJK KR"/>
              </a:rPr>
              <a:t>검토 상태를 표시하지만 숨은 판정 권한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3044952"/>
            <a:ext cx="6016752" cy="932688"/>
          </a:xfrm>
          <a:prstGeom prst="roundRect">
            <a:avLst/>
          </a:prstGeom>
          <a:solidFill>
            <a:srgbClr val="FCF3E0"/>
          </a:solidFill>
          <a:ln w="12700">
            <a:solidFill>
              <a:srgbClr val="FC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209544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59E35"/>
                </a:solidFill>
                <a:latin typeface="Noto Sans CJK KR"/>
              </a:rPr>
              <a:t>DomainPack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227832"/>
            <a:ext cx="3246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18342A"/>
                </a:solidFill>
                <a:latin typeface="Noto Sans CJK KR"/>
              </a:rPr>
              <a:t>ODA·보건·시민데이터 fixture와 판단 규칙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7" y="4279392"/>
            <a:ext cx="5468112" cy="932688"/>
          </a:xfrm>
          <a:prstGeom prst="roundRect">
            <a:avLst/>
          </a:prstGeom>
          <a:solidFill>
            <a:srgbClr val="CDE3D6"/>
          </a:solidFill>
          <a:ln w="12700">
            <a:solidFill>
              <a:srgbClr val="CD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4443983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4D36"/>
                </a:solidFill>
                <a:latin typeface="Noto Sans CJK KR"/>
              </a:rPr>
              <a:t>ClaimGate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462272"/>
            <a:ext cx="2788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18342A"/>
                </a:solidFill>
                <a:latin typeface="Noto Sans CJK KR"/>
              </a:rPr>
              <a:t>Claim · Source Anchor · Risk · Review · Evidence Pack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1810512"/>
            <a:ext cx="3840480" cy="3712463"/>
          </a:xfrm>
          <a:prstGeom prst="roundRect">
            <a:avLst/>
          </a:prstGeom>
          <a:solidFill>
            <a:srgbClr val="18342A"/>
          </a:solidFill>
          <a:ln w="12700">
            <a:solidFill>
              <a:srgbClr val="183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KR"/>
              </a:rPr>
              <a:t>@claimgate/ai-local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2587752"/>
            <a:ext cx="3182112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9E0D3"/>
                </a:solidFill>
                <a:latin typeface="Noto Sans CJK KR"/>
              </a:rPr>
              <a:t>후보 추출 · local model · RAG provenance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474720"/>
            <a:ext cx="3163824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59E35"/>
                </a:solidFill>
                <a:latin typeface="Noto Sans CJK KR"/>
              </a:rPr>
              <a:t>가질 수 없는 권한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3867912"/>
            <a:ext cx="3127248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20" b="1">
                <a:solidFill>
                  <a:srgbClr val="FFFFFF"/>
                </a:solidFill>
                <a:latin typeface="Noto Sans CJK KR"/>
              </a:rPr>
              <a:t>× 사실 검증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FFFFFF"/>
                </a:solidFill>
                <a:latin typeface="Noto Sans CJK KR"/>
              </a:rPr>
              <a:t>× 위험 최종 결정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FFFFFF"/>
                </a:solidFill>
                <a:latin typeface="Noto Sans CJK KR"/>
              </a:rPr>
              <a:t>× accepted anchor 부착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FFFFFF"/>
                </a:solidFill>
                <a:latin typeface="Noto Sans CJK KR"/>
              </a:rPr>
              <a:t>× Evidence Pack 투영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65392"/>
            <a:ext cx="749807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7F9489"/>
                </a:solidFill>
                <a:latin typeface="Noto Sans CJK KR"/>
              </a:rPr>
              <a:t>CLAIMGATE ODA · 2026 외교 공공데이터·AI 활용 경진대회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07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342A"/>
                </a:solidFill>
                <a:latin typeface="Noto Sans CJK KR"/>
              </a:rPr>
              <a:t>구현 주장은 재현 가능한 테스트와 산출물에 연결됩니다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98448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F65"/>
                </a:solidFill>
                <a:latin typeface="Noto Sans CJK KR"/>
              </a:rPr>
              <a:t>2026-08-25 저장소 검증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3891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65376"/>
            <a:ext cx="2578608" cy="155448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2103120"/>
            <a:ext cx="2304288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F4D36"/>
                </a:solidFill>
                <a:latin typeface="Noto Sans CJK KR"/>
              </a:rPr>
              <a:t>192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798064"/>
            <a:ext cx="230428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workspace unit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865376"/>
            <a:ext cx="2578608" cy="155448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2103120"/>
            <a:ext cx="2304288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4734F"/>
                </a:solidFill>
                <a:latin typeface="Noto Sans CJK KR"/>
              </a:rPr>
              <a:t>103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798064"/>
            <a:ext cx="230428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core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865376"/>
            <a:ext cx="2578608" cy="155448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103120"/>
            <a:ext cx="2304288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E59E35"/>
                </a:solidFill>
                <a:latin typeface="Noto Sans CJK KR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798064"/>
            <a:ext cx="230428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local-AI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865376"/>
            <a:ext cx="2578608" cy="155448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103120"/>
            <a:ext cx="2304288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CD524A"/>
                </a:solidFill>
                <a:latin typeface="Noto Sans CJK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798064"/>
            <a:ext cx="230428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DomainPacks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3822191"/>
            <a:ext cx="10972800" cy="1682496"/>
          </a:xfrm>
          <a:prstGeom prst="roundRect">
            <a:avLst/>
          </a:prstGeom>
          <a:solidFill>
            <a:srgbClr val="E5F2EA"/>
          </a:solidFill>
          <a:ln w="12700">
            <a:solidFill>
              <a:srgbClr val="E5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096512"/>
            <a:ext cx="31546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4D36"/>
                </a:solidFill>
                <a:latin typeface="Noto Sans CJK KR"/>
              </a:rPr>
              <a:t>✓  오프라인·결정론적 기본 경로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4096512"/>
            <a:ext cx="31546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4D36"/>
                </a:solidFill>
                <a:latin typeface="Noto Sans CJK KR"/>
              </a:rPr>
              <a:t>✓  No Anchor / reviewer / projection negative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4096512"/>
            <a:ext cx="31546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4D36"/>
                </a:solidFill>
                <a:latin typeface="Noto Sans CJK KR"/>
              </a:rPr>
              <a:t>✓  DomainPack conformance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736592"/>
            <a:ext cx="31546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4D36"/>
                </a:solidFill>
                <a:latin typeface="Noto Sans CJK KR"/>
              </a:rPr>
              <a:t>✓  contest overclaim 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4736592"/>
            <a:ext cx="31546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4D36"/>
                </a:solidFill>
                <a:latin typeface="Noto Sans CJK KR"/>
              </a:rPr>
              <a:t>✓  video preflight · kbctl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806440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40" b="1">
                <a:solidFill>
                  <a:srgbClr val="CD524A"/>
                </a:solidFill>
                <a:latin typeface="Noto Sans CJK KR"/>
              </a:rPr>
              <a:t>정확도·고객 채택·운영 시간 절감 수치는 아직 주장하지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65392"/>
            <a:ext cx="749807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7F9489"/>
                </a:solidFill>
                <a:latin typeface="Noto Sans CJK KR"/>
              </a:rPr>
              <a:t>CLAIMGATE ODA · 2026 외교 공공데이터·AI 활용 경진대회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08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342A"/>
                </a:solidFill>
                <a:latin typeface="Noto Sans CJK KR"/>
              </a:rPr>
              <a:t>고위험 문장 검토부터 제한적으로 제품화합니다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98448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F65"/>
                </a:solidFill>
                <a:latin typeface="Noto Sans CJK KR"/>
              </a:rPr>
              <a:t>문서 생성 전체를 대체하지 않고 검토 비용과 책임 인계 문제부터 해결합니다.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3891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5B6F65"/>
                </a:solidFill>
                <a:latin typeface="Noto Sans CJK KR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93392"/>
            <a:ext cx="2578608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2212848"/>
            <a:ext cx="566928" cy="310896"/>
          </a:xfrm>
          <a:prstGeom prst="roundRect">
            <a:avLst/>
          </a:prstGeom>
          <a:solidFill>
            <a:srgbClr val="0F4D36"/>
          </a:solidFill>
          <a:ln w="12700">
            <a:solidFill>
              <a:srgbClr val="0F4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21991"/>
            <a:ext cx="5669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16352"/>
            <a:ext cx="2139696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342A"/>
                </a:solidFill>
                <a:latin typeface="Noto Sans CJK KR"/>
              </a:rPr>
              <a:t>검토 엔진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01568"/>
            <a:ext cx="2139696" cy="9692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0">
                <a:solidFill>
                  <a:srgbClr val="5B6F65"/>
                </a:solidFill>
                <a:latin typeface="Noto Sans CJK KR"/>
              </a:rPr>
              <a:t>Claim · Anchor · Rule · Review · Evidence Pack 안정화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608576"/>
            <a:ext cx="2139696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0F4D36"/>
                </a:solidFill>
                <a:latin typeface="Noto Sans CJK KR"/>
              </a:rPr>
              <a:t>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993392"/>
            <a:ext cx="2578608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21024" y="2212848"/>
            <a:ext cx="566928" cy="310896"/>
          </a:xfrm>
          <a:prstGeom prst="roundRect">
            <a:avLst/>
          </a:prstGeom>
          <a:solidFill>
            <a:srgbClr val="0F4D36"/>
          </a:solidFill>
          <a:ln w="12700">
            <a:solidFill>
              <a:srgbClr val="0F4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2221991"/>
            <a:ext cx="5669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816352"/>
            <a:ext cx="2139696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342A"/>
                </a:solidFill>
                <a:latin typeface="Noto Sans CJK KR"/>
              </a:rPr>
              <a:t>ODA 시제품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401568"/>
            <a:ext cx="2139696" cy="9692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0">
                <a:solidFill>
                  <a:srgbClr val="5B6F65"/>
                </a:solidFill>
                <a:latin typeface="Noto Sans CJK KR"/>
              </a:rPr>
              <a:t>외교 공공데이터 fixture와 발표 데모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4608576"/>
            <a:ext cx="2139696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0F4D36"/>
                </a:solidFill>
                <a:latin typeface="Noto Sans CJK KR"/>
              </a:rPr>
              <a:t>CURRENT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993392"/>
            <a:ext cx="2578608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6" y="2212848"/>
            <a:ext cx="566928" cy="310896"/>
          </a:xfrm>
          <a:prstGeom prst="roundRect">
            <a:avLst/>
          </a:prstGeom>
          <a:solidFill>
            <a:srgbClr val="E59E35"/>
          </a:solidFill>
          <a:ln w="12700">
            <a:solidFill>
              <a:srgbClr val="E59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221991"/>
            <a:ext cx="5669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816352"/>
            <a:ext cx="2139696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342A"/>
                </a:solidFill>
                <a:latin typeface="Noto Sans CJK KR"/>
              </a:rPr>
              <a:t>제한 파일럿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401568"/>
            <a:ext cx="2139696" cy="9692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0">
                <a:solidFill>
                  <a:srgbClr val="5B6F65"/>
                </a:solidFill>
                <a:latin typeface="Noto Sans CJK KR"/>
              </a:rPr>
              <a:t>검토 시간·재확인 시간·정정 재사용률 측정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4608576"/>
            <a:ext cx="2139696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E59E35"/>
                </a:solidFill>
                <a:latin typeface="Noto Sans CJK KR"/>
              </a:rPr>
              <a:t>NEXT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93392"/>
            <a:ext cx="2578608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53728" y="2212848"/>
            <a:ext cx="566928" cy="310896"/>
          </a:xfrm>
          <a:prstGeom prst="roundRect">
            <a:avLst/>
          </a:prstGeom>
          <a:solidFill>
            <a:srgbClr val="E59E35"/>
          </a:solidFill>
          <a:ln w="12700">
            <a:solidFill>
              <a:srgbClr val="E59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2221991"/>
            <a:ext cx="5669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816352"/>
            <a:ext cx="2139696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342A"/>
                </a:solidFill>
                <a:latin typeface="Noto Sans CJK KR"/>
              </a:rPr>
              <a:t>운영 연계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3401568"/>
            <a:ext cx="2139696" cy="9692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0">
                <a:solidFill>
                  <a:srgbClr val="5B6F65"/>
                </a:solidFill>
                <a:latin typeface="Noto Sans CJK KR"/>
              </a:rPr>
              <a:t>필요한 범위의 읽기 전용 데이터·AI 어댑터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4608576"/>
            <a:ext cx="2139696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E59E35"/>
                </a:solidFill>
                <a:latin typeface="Noto Sans CJK KR"/>
              </a:rPr>
              <a:t>NEXT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" y="5449824"/>
            <a:ext cx="10972800" cy="658368"/>
          </a:xfrm>
          <a:prstGeom prst="roundRect">
            <a:avLst/>
          </a:prstGeom>
          <a:solidFill>
            <a:srgbClr val="0F4D36"/>
          </a:solidFill>
          <a:ln w="12700">
            <a:solidFill>
              <a:srgbClr val="0F4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561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</a:rPr>
              <a:t>첫 적용: 국가 안전 · 사업 정보 · 성과 설명 등 오류 비용이 높은 문장 검토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65392"/>
            <a:ext cx="749807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7F9489"/>
                </a:solidFill>
                <a:latin typeface="Noto Sans CJK KR"/>
              </a:rPr>
              <a:t>CLAIMGATE ODA · 2026 외교 공공데이터·AI 활용 경진대회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3840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0DCCC"/>
                </a:solidFill>
                <a:latin typeface="Noto Sans CJK KR"/>
              </a:rPr>
              <a:t>CLAIMGATE 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53312"/>
            <a:ext cx="1086307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AI가 초안을 빠르게 쓰게 한다면,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12848"/>
            <a:ext cx="10863072" cy="10607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ClaimGate ODA는 그 문장을 사람이
근거와 함께 책임질 수 있게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3858768"/>
            <a:ext cx="8366760" cy="1051560"/>
          </a:xfrm>
          <a:prstGeom prst="roundRect">
            <a:avLst/>
          </a:prstGeom>
          <a:solidFill>
            <a:srgbClr val="1F6045"/>
          </a:solidFill>
          <a:ln w="12700">
            <a:solidFill>
              <a:srgbClr val="1F6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57984" y="4105656"/>
            <a:ext cx="7882127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KR"/>
              </a:rPr>
              <a:t>공공데이터 AI 시대의 마지막 문은 Claim Gate입니다.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5358384"/>
            <a:ext cx="1572768" cy="310896"/>
          </a:xfrm>
          <a:prstGeom prst="roundRect">
            <a:avLst/>
          </a:prstGeom>
          <a:solidFill>
            <a:srgbClr val="246148"/>
          </a:solidFill>
          <a:ln w="12700">
            <a:solidFill>
              <a:srgbClr val="246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5367528"/>
            <a:ext cx="15727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NO ANCHOR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5358384"/>
            <a:ext cx="1408176" cy="310896"/>
          </a:xfrm>
          <a:prstGeom prst="roundRect">
            <a:avLst/>
          </a:prstGeom>
          <a:solidFill>
            <a:srgbClr val="E59E35"/>
          </a:solidFill>
          <a:ln w="12700">
            <a:solidFill>
              <a:srgbClr val="E59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5367528"/>
            <a:ext cx="140817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8342A"/>
                </a:solidFill>
                <a:latin typeface="Noto Sans CJK KR"/>
              </a:rPr>
              <a:t>NO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163056"/>
            <a:ext cx="108630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9E0D3"/>
                </a:solidFill>
                <a:latin typeface="Noto Sans CJK KR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ClaimGate ODA Final Presentation</dc:title>
  <dc:subject>2026 MOFA Public Data and AI Contest</dc:subject>
  <dc:creator>ClaimGate ODA</dc:creator>
  <cp:keywords>ClaimGate, ODA, public data, AI, evidence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